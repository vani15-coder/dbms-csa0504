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2" r:id="rId5"/>
    <p:sldId id="271" r:id="rId6"/>
    <p:sldId id="259" r:id="rId7"/>
    <p:sldId id="267" r:id="rId8"/>
    <p:sldId id="273" r:id="rId9"/>
    <p:sldId id="269" r:id="rId10"/>
    <p:sldId id="262" r:id="rId11"/>
    <p:sldId id="263" r:id="rId12"/>
    <p:sldId id="264" r:id="rId13"/>
    <p:sldId id="265" r:id="rId14"/>
    <p:sldId id="266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5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459B56-15E1-468C-848D-5DAFE16C3B0C}" v="7" dt="2025-11-06T03:02:50.1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88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I BELLAMKONDA" userId="0c8e5eaace3350c4" providerId="LiveId" clId="{4A548E9E-8D4B-4A9F-A06B-CE46AF22DC74}"/>
    <pc:docChg chg="undo custSel addSld delSld modSld">
      <pc:chgData name="VANI BELLAMKONDA" userId="0c8e5eaace3350c4" providerId="LiveId" clId="{4A548E9E-8D4B-4A9F-A06B-CE46AF22DC74}" dt="2025-11-06T03:04:07.513" v="85" actId="47"/>
      <pc:docMkLst>
        <pc:docMk/>
      </pc:docMkLst>
      <pc:sldChg chg="addSp delSp modSp mod">
        <pc:chgData name="VANI BELLAMKONDA" userId="0c8e5eaace3350c4" providerId="LiveId" clId="{4A548E9E-8D4B-4A9F-A06B-CE46AF22DC74}" dt="2025-11-06T03:03:52.530" v="82" actId="14100"/>
        <pc:sldMkLst>
          <pc:docMk/>
          <pc:sldMk cId="2818363327" sldId="273"/>
        </pc:sldMkLst>
        <pc:spChg chg="del mod">
          <ac:chgData name="VANI BELLAMKONDA" userId="0c8e5eaace3350c4" providerId="LiveId" clId="{4A548E9E-8D4B-4A9F-A06B-CE46AF22DC74}" dt="2025-11-06T03:02:50.192" v="73"/>
          <ac:spMkLst>
            <pc:docMk/>
            <pc:sldMk cId="2818363327" sldId="273"/>
            <ac:spMk id="3" creationId="{A2139517-9F2F-5F83-28B6-283BDA074126}"/>
          </ac:spMkLst>
        </pc:spChg>
        <pc:spChg chg="add del">
          <ac:chgData name="VANI BELLAMKONDA" userId="0c8e5eaace3350c4" providerId="LiveId" clId="{4A548E9E-8D4B-4A9F-A06B-CE46AF22DC74}" dt="2025-11-06T02:56:41.462" v="1" actId="22"/>
          <ac:spMkLst>
            <pc:docMk/>
            <pc:sldMk cId="2818363327" sldId="273"/>
            <ac:spMk id="5" creationId="{0911C786-4EB9-6C69-0480-63C014EF3060}"/>
          </ac:spMkLst>
        </pc:spChg>
        <pc:spChg chg="add mod">
          <ac:chgData name="VANI BELLAMKONDA" userId="0c8e5eaace3350c4" providerId="LiveId" clId="{4A548E9E-8D4B-4A9F-A06B-CE46AF22DC74}" dt="2025-11-06T03:03:52.530" v="82" actId="14100"/>
          <ac:spMkLst>
            <pc:docMk/>
            <pc:sldMk cId="2818363327" sldId="273"/>
            <ac:spMk id="8" creationId="{218D4A16-C151-2EA0-8043-4177231EAB38}"/>
          </ac:spMkLst>
        </pc:spChg>
        <pc:picChg chg="add mod">
          <ac:chgData name="VANI BELLAMKONDA" userId="0c8e5eaace3350c4" providerId="LiveId" clId="{4A548E9E-8D4B-4A9F-A06B-CE46AF22DC74}" dt="2025-11-06T03:03:33.898" v="81" actId="14100"/>
          <ac:picMkLst>
            <pc:docMk/>
            <pc:sldMk cId="2818363327" sldId="273"/>
            <ac:picMk id="7" creationId="{D6CC3FF7-D5FE-560B-A813-430A5FFB85D5}"/>
          </ac:picMkLst>
        </pc:picChg>
      </pc:sldChg>
      <pc:sldChg chg="addSp modSp new add del mod">
        <pc:chgData name="VANI BELLAMKONDA" userId="0c8e5eaace3350c4" providerId="LiveId" clId="{4A548E9E-8D4B-4A9F-A06B-CE46AF22DC74}" dt="2025-11-06T03:04:07.513" v="85" actId="47"/>
        <pc:sldMkLst>
          <pc:docMk/>
          <pc:sldMk cId="3980429095" sldId="274"/>
        </pc:sldMkLst>
        <pc:spChg chg="add mod">
          <ac:chgData name="VANI BELLAMKONDA" userId="0c8e5eaace3350c4" providerId="LiveId" clId="{4A548E9E-8D4B-4A9F-A06B-CE46AF22DC74}" dt="2025-11-06T03:02:26.949" v="68"/>
          <ac:spMkLst>
            <pc:docMk/>
            <pc:sldMk cId="3980429095" sldId="274"/>
            <ac:spMk id="4" creationId="{4B53564C-324F-F992-CA1B-323B3F50ABC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BD02B-C5A6-4030-AD2C-93F4C1590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B201AD-7390-D0DD-D1CE-CA015C9070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AEA6F-5619-0A9A-7237-3C252D25D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66ECC-0FBE-4D46-80BC-D04A8C6C168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57E5D-CB2B-7091-5B3E-B10890525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40552-ACD1-BB66-A522-42CE22B38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006EF-D556-40F4-8A8D-0B1B42940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682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0D71-0C23-4FCA-7E4F-4292A73A7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D2AEF-4E86-7869-A7F8-E79538452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B9332-C99D-2153-3210-091BBB96B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66ECC-0FBE-4D46-80BC-D04A8C6C168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FC97E-A8B4-7781-AF15-9FE5B6D70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E4A3E-45DA-96EA-55B4-0B8280589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006EF-D556-40F4-8A8D-0B1B42940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207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84ABE-B2BA-D305-660D-62F3BF994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A2856-EC95-6857-0EFC-9F4AEBAE0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68F83-032E-3FD2-8D74-F2E41C9D1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66ECC-0FBE-4D46-80BC-D04A8C6C168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430BC-4069-C6D6-B7AA-2A2E7396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59277-6F15-BEFD-46F5-F8F127AD9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006EF-D556-40F4-8A8D-0B1B42940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269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49929-F36B-23A0-ABFA-83CA34C95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7D96F-1A06-06E1-1B03-30A7EBBA92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73BDA-C5D7-273E-7D04-2F6FAD92FF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453352-93AD-6F11-3B2D-8DD2A6806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66ECC-0FBE-4D46-80BC-D04A8C6C168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E0DC71-FD70-3B28-51F4-864B0925C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C5DA7-9704-9FA1-7970-C46FA9410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006EF-D556-40F4-8A8D-0B1B42940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866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646F9-18E0-430A-8972-BAB987BC7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88ADE-5698-987A-A2FB-B99934955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EAB6C-1363-09BC-18E5-887A3105A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E9F22A-DB50-7EF3-4910-ECE7A3AB4B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6FD61D-C868-257E-4CD9-74C0EE845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2218F1-3D6E-730A-4B7F-166BC9C8E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66ECC-0FBE-4D46-80BC-D04A8C6C168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577E8B-C1A2-1AE6-9BD6-BA8EC802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64B0DE-C17B-4C70-69CE-B6D894E0F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006EF-D556-40F4-8A8D-0B1B42940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78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4E87A-4137-4FA4-6567-2F271DDAD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5137A6-EFB9-3EAB-2F3C-CD94DE857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66ECC-0FBE-4D46-80BC-D04A8C6C168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978600-5940-4D78-F631-75E10C776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3DCF7A-2D20-C8EF-32AB-EF24E4748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006EF-D556-40F4-8A8D-0B1B42940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542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A2FEE9-E325-DCC6-F0E1-52964B8F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66ECC-0FBE-4D46-80BC-D04A8C6C168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26955B-6D9C-DCA9-3D17-8F429070B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E77A4-C16D-0FAB-E5B4-9A81205FA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006EF-D556-40F4-8A8D-0B1B42940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568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79AE3-6AC6-AC4F-1C5A-4EBDE5352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8CCCD-BCCD-474B-B66C-DF1D55923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E754E-51A3-B7D1-0293-26A00B697F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BDC60-7C75-06F2-ED26-676A4ED2E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66ECC-0FBE-4D46-80BC-D04A8C6C168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057809-E9D2-A651-F1CC-CC538CC4E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1723F2-808A-ABEF-9048-91195E262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006EF-D556-40F4-8A8D-0B1B42940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736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47A46-5B2D-5904-C4AD-6509BA4DF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303832-3EBB-CCD9-5B99-FFA4C89F4F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8D086F-6B91-5F2F-BCDD-FE4EF118F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081BC-EA8E-2907-B75A-51A97A1F9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66ECC-0FBE-4D46-80BC-D04A8C6C168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5D5F3-8A39-50B9-9BD4-D4161095B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A31003-CC2B-F1FA-56BC-0009D8449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006EF-D556-40F4-8A8D-0B1B42940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8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56B71-D940-6C32-55CB-AA33BE032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342351-560B-24B2-7DEA-73457A3A5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0245D-B7DD-45AD-8705-C4967975F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66ECC-0FBE-4D46-80BC-D04A8C6C168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F329C-45DC-357B-9A7C-8C0C2024C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2C96D-6798-19A7-513A-27005A31B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006EF-D556-40F4-8A8D-0B1B42940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958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CD019F-3CB9-D67F-E413-214DC1BB91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3456D-E920-A812-0BBD-3877B4F9C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CCFD8-A2C0-20B3-CE5E-B5E53DC0A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66ECC-0FBE-4D46-80BC-D04A8C6C168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0D57C-637E-AD93-F60B-D3990A53A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EB87A-8064-7A42-B2BA-785D06C15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006EF-D556-40F4-8A8D-0B1B42940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797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1F1BDB-0CCB-57E7-7DB4-033CBC220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287CA-A3E5-6EB8-E8E3-E3291A426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5A3A1-3A19-DCA2-71D6-7AADF2C287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D66ECC-0FBE-4D46-80BC-D04A8C6C168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64E25-20E6-639A-48B5-A9D4E0B925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B35FF-365B-3CF6-5EC9-E9E216C1A3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006EF-D556-40F4-8A8D-0B1B42940F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570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538DD-5992-CAE3-DB37-0BBB64B34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872" y="962863"/>
            <a:ext cx="11953128" cy="2387600"/>
          </a:xfrm>
        </p:spPr>
        <p:txBody>
          <a:bodyPr>
            <a:normAutofit/>
          </a:bodyPr>
          <a:lstStyle/>
          <a:p>
            <a:r>
              <a:rPr lang="en-IN" sz="4500" b="1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OF ONLINE AUCTION SYSTEM WITH REAL TIME BIDDING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337D78-467C-F6B0-2B45-0614465669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0216" y="4526591"/>
            <a:ext cx="4018496" cy="146620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>
              <a:lnSpc>
                <a:spcPct val="100000"/>
              </a:lnSpc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S. Tharunika Shri(192421244)</a:t>
            </a:r>
          </a:p>
          <a:p>
            <a:pPr>
              <a:lnSpc>
                <a:spcPct val="100000"/>
              </a:lnSpc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M. Tharani(192472375)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210CBB-3280-FD26-DA0F-8CF51D19330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8872" y="152257"/>
            <a:ext cx="1134745" cy="13423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27E4D3-9E6B-F01B-1AC5-9441D2B98DE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433573" y="169464"/>
            <a:ext cx="1519555" cy="13423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881832-F24A-E174-4D83-A869A37648BD}"/>
              </a:ext>
            </a:extLst>
          </p:cNvPr>
          <p:cNvSpPr txBox="1"/>
          <p:nvPr/>
        </p:nvSpPr>
        <p:spPr>
          <a:xfrm>
            <a:off x="-108155" y="4406909"/>
            <a:ext cx="3834581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algn="ctr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 Pandiaraj</a:t>
            </a:r>
          </a:p>
          <a:p>
            <a:pPr algn="ctr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.J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Velmurgan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CB6870-A8BE-9FE1-6810-1EB25372297D}"/>
              </a:ext>
            </a:extLst>
          </p:cNvPr>
          <p:cNvSpPr txBox="1"/>
          <p:nvPr/>
        </p:nvSpPr>
        <p:spPr>
          <a:xfrm>
            <a:off x="978877" y="3514357"/>
            <a:ext cx="993348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CSA0504</a:t>
            </a:r>
          </a:p>
          <a:p>
            <a:pPr algn="ctr"/>
            <a:r>
              <a:rPr lang="en-IN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 FOR CLOUD NATIVE</a:t>
            </a:r>
          </a:p>
        </p:txBody>
      </p:sp>
    </p:spTree>
    <p:extLst>
      <p:ext uri="{BB962C8B-B14F-4D97-AF65-F5344CB8AC3E}">
        <p14:creationId xmlns:p14="http://schemas.microsoft.com/office/powerpoint/2010/main" val="1730008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FF12E-F09D-ED66-1AAE-5D9F74765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064" y="120302"/>
            <a:ext cx="10515600" cy="1325563"/>
          </a:xfrm>
        </p:spPr>
        <p:txBody>
          <a:bodyPr/>
          <a:lstStyle/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B6EE5-514E-CEE2-F4ED-5B1D97BDD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2" y="1740310"/>
            <a:ext cx="10626212" cy="438749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project: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An online platform where sellers list products for auction and buyers place bids.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Real-time bidding ensures transparency and fair competition.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System automatically declares the winner at auction end.</a:t>
            </a:r>
          </a:p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Problem Statement: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Manual auctions are time-consuming and prone to errors.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Lack of transparency in traditional auction systems.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handling multiple users and products at once.</a:t>
            </a:r>
          </a:p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Project: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secure and automated online auction system.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 enable real-time bidding with instant updates.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 simplify auction management for sellers, buyers, and admin.</a:t>
            </a:r>
          </a:p>
          <a:p>
            <a:pPr marL="0" indent="0">
              <a:buNone/>
            </a:pPr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C2F940-2CB0-B760-C464-51750741294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1557" y="120302"/>
            <a:ext cx="1134745" cy="13423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CC5342-55DE-0DAA-A1CE-A841AEAD245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512671" y="120302"/>
            <a:ext cx="1519555" cy="134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782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6256-6A81-6AB4-DBA9-D606BCD42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7453"/>
            <a:ext cx="10515600" cy="1325563"/>
          </a:xfrm>
        </p:spPr>
        <p:txBody>
          <a:bodyPr/>
          <a:lstStyle/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BFCAC-9E2B-C355-5AD4-ABA64CF7D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5181" y="231723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/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1E65DA-2F43-DCF3-92ED-E144D88F6C3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8873" y="265681"/>
            <a:ext cx="1134745" cy="13423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364012-81BF-69D9-6A22-42E5EE958A6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517822" y="165528"/>
            <a:ext cx="1519555" cy="134239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23652C9C-E23D-0CFB-FB1B-49ACEE5DB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036" y="1566718"/>
            <a:ext cx="11038727" cy="4094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about creating an online auction system where users can buy and sell items through real-time bidding.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register, log in, and participate in live auctions easily.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shows instant updates of the highest bid during the auction.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database is used to store all user details, items, and bid information safely.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includes secure login and roles for buyers, sellers, and admin users.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helps to understand database management and web technologies through a practical application</a:t>
            </a: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5380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F447C1-6548-2767-7AFE-8071BA24BEF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8873" y="265681"/>
            <a:ext cx="1134745" cy="13423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D9A75B-3494-25F0-5985-9E4AC317175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517822" y="165528"/>
            <a:ext cx="1519555" cy="13423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7DBC6B-1325-E035-C9A5-589EE56C39DE}"/>
              </a:ext>
            </a:extLst>
          </p:cNvPr>
          <p:cNvSpPr txBox="1"/>
          <p:nvPr/>
        </p:nvSpPr>
        <p:spPr>
          <a:xfrm>
            <a:off x="2949678" y="452002"/>
            <a:ext cx="54765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3658B4-F1E4-BD5C-3AB3-7751B408533D}"/>
              </a:ext>
            </a:extLst>
          </p:cNvPr>
          <p:cNvSpPr txBox="1"/>
          <p:nvPr/>
        </p:nvSpPr>
        <p:spPr>
          <a:xfrm>
            <a:off x="481780" y="1730478"/>
            <a:ext cx="9396945" cy="3586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secure and user-friendly online platform for conducting auctions.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real-time bidding where the highest bid is instantly updated.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manage user roles such as buyers, sellers, and admin efficiently.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data security and transparency in all auction transactions.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a centralized database for users, products, and bid records.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automate the winner selection and payment process after auction completion.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544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45DD2-A34D-3EE9-6790-332EAD8B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3A979-7ADB-1448-59E7-60604D730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7226" y="190090"/>
            <a:ext cx="6587614" cy="981894"/>
          </a:xfrm>
        </p:spPr>
        <p:txBody>
          <a:bodyPr>
            <a:normAutofit/>
          </a:bodyPr>
          <a:lstStyle/>
          <a:p>
            <a:r>
              <a:rPr lang="en-IN" sz="420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1026" name="Picture 2" descr="Architecture for the On-line Auction System | Download Scientific Diagram">
            <a:extLst>
              <a:ext uri="{FF2B5EF4-FFF2-40B4-BE49-F238E27FC236}">
                <a16:creationId xmlns:a16="http://schemas.microsoft.com/office/drawing/2014/main" id="{017C8239-09BB-8DD7-5CEF-6118804A821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820" y="1171984"/>
            <a:ext cx="8886826" cy="5495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9CA63F-B136-B9C0-E7B3-C8C63E0B1EC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38873" y="95795"/>
            <a:ext cx="1134745" cy="13423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A05B79-B2CB-363F-F290-9A08B0AE4A1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158709" y="95795"/>
            <a:ext cx="1519555" cy="134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090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455C2-228B-6B76-026B-8782167C2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749" y="6240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MODULE1</a:t>
            </a:r>
            <a:b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User and Product Management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C9D73E-762B-1F20-DCFA-FC28D259226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8873" y="95795"/>
            <a:ext cx="1134745" cy="13423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6251C8-9224-526E-4EF1-CAAFE88A0D4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433572" y="95795"/>
            <a:ext cx="1519555" cy="13423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E12187A-D331-F4F5-2ADD-CFEABA996A3F}"/>
              </a:ext>
            </a:extLst>
          </p:cNvPr>
          <p:cNvSpPr/>
          <p:nvPr/>
        </p:nvSpPr>
        <p:spPr>
          <a:xfrm>
            <a:off x="98645" y="1612058"/>
            <a:ext cx="7507957" cy="5014127"/>
          </a:xfrm>
          <a:prstGeom prst="rect">
            <a:avLst/>
          </a:prstGeom>
          <a:ln>
            <a:solidFill>
              <a:srgbClr val="5B5BA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manages all user-related activities such as registration, login, and profile management.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administrators to view and control user accounts, including activating or deactivating users.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add, update, or delete their product listings easily.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maintains a database of users and products for quick access and updates.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and authentication are used to ensure secure user access.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forms the base of the online auction system, connecting users with their products for bidding.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118788B-15FA-D391-3FA8-CA4DB70790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1418" y="1612058"/>
            <a:ext cx="4211710" cy="501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257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E1F1C-CDB3-72EB-EA84-DAE1796CB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D477D-676D-B729-B9E2-A1F2587CA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749" y="7923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MODULE2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Auction &amp; Bidding Management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398102-3386-E7A9-2361-1FE79FEA77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3618" y="4037773"/>
            <a:ext cx="1148407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353C84-754A-2DFC-C35E-E5D62205157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8438" y="0"/>
            <a:ext cx="1134745" cy="13423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6ECCD6-C67F-2C59-7B9D-564A002BB85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433572" y="95795"/>
            <a:ext cx="1519555" cy="134239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883ACAA-C4AD-E85E-5EC0-D77A659F47CD}"/>
              </a:ext>
            </a:extLst>
          </p:cNvPr>
          <p:cNvSpPr/>
          <p:nvPr/>
        </p:nvSpPr>
        <p:spPr>
          <a:xfrm>
            <a:off x="148438" y="1551651"/>
            <a:ext cx="8362515" cy="522711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§"/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3857E3B-2BEE-57E4-A835-497EDF898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438" y="1538376"/>
            <a:ext cx="8362516" cy="5115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Sellers or admins can list products with a base price, auction type, and timeline.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Buyers must register and verify before joining the bidding.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During the auction, users place real-time bids, and the system updates the highest bid instantly.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bid is timestamped and stored to ensure transparency and fairness.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Instant alerts notify users when they are outbid to keep them engaged.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 helps identify fake or suspicious bidding activities.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Once the auction ends, the system automatically declares the highest bidder as the winner.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winner completes payment, followed by confirmation and product handover.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3C5BF8D-6C24-011F-F33C-D7609A425A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1396" y="1433234"/>
            <a:ext cx="3321731" cy="522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5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1916E-41C2-0A34-2FA1-687ED7F4C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MODULE3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and transaction Management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CC3FF7-D5FE-560B-A813-430A5FFB8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226" y="1749064"/>
            <a:ext cx="3574774" cy="5044566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8D4A16-C151-2EA0-8043-4177231EA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13869"/>
            <a:ext cx="8617226" cy="5044566"/>
          </a:xfrm>
          <a:prstGeom prst="rect">
            <a:avLst/>
          </a:prstGeom>
          <a:ln>
            <a:solidFill>
              <a:srgbClr val="5B5BA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>
            <a:normAutofit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the auction ends, the system automatically generates a payment request for the winning bidder.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winner receives an invoice and payment link through the system or email notification.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gateway integration (like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Razorpay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PayPal, or UPI) ensures secure online transactions.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transaction is validated with a unique transaction ID to prevent duplication or fraud.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verifies the payment status and updates the transaction record in the database.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successful payment, the seller is notified and the product handover process begins.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 can monitor, verify, and audit all payments through a centralized dashboard.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case of failed or disputed payments, the system supports refund initiation and resolution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363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4DD4E-7C61-DF5E-0865-F66356F39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3BE03-9301-EFC8-0502-A5D613A2F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232" y="138984"/>
            <a:ext cx="10515600" cy="981894"/>
          </a:xfrm>
        </p:spPr>
        <p:txBody>
          <a:bodyPr>
            <a:normAutofit/>
          </a:bodyPr>
          <a:lstStyle/>
          <a:p>
            <a:r>
              <a:rPr lang="en-IN" sz="420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8EE664-8E05-05DA-AD83-E96DA54238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3" y="1022555"/>
            <a:ext cx="11090787" cy="5154408"/>
          </a:xfrm>
        </p:spPr>
      </p:pic>
    </p:spTree>
    <p:extLst>
      <p:ext uri="{BB962C8B-B14F-4D97-AF65-F5344CB8AC3E}">
        <p14:creationId xmlns:p14="http://schemas.microsoft.com/office/powerpoint/2010/main" val="3223249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BD9F6-9D25-B735-F7F1-DC70103D7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903" y="95795"/>
            <a:ext cx="10515600" cy="1325563"/>
          </a:xfrm>
        </p:spPr>
        <p:txBody>
          <a:bodyPr/>
          <a:lstStyle/>
          <a:p>
            <a:pPr algn="ctr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393A0D-C0DC-DF4A-AEBC-DACC0F66EC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3903" y="1679161"/>
            <a:ext cx="9977283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enables real-time bidding updates, ensuring fairness and transparency.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Auction deadlines are automatically enforced, reducing manual errors and delays.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logs maintain a complete history of bids, useful for auditing and dispute resolution.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design supports multiple concurrent auctions, improving scalability.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mechanisms prevent unauthorized access and fake users.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user engagement by sending notifications about bid status and auction results.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Compared to existing methods, it offers 24/7 accessibility without geographical restrictions.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features help identify popular items, bidding trends, and user behavior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1507E1-915A-98BC-EF4C-F82CCC09680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8873" y="95795"/>
            <a:ext cx="1134745" cy="13423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9705FA-19B2-A2A7-50DF-10EFA9C6EBC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433572" y="95795"/>
            <a:ext cx="1519555" cy="134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122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1E5C9-41D4-3362-F0E6-8647C7488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749" y="95795"/>
            <a:ext cx="10515600" cy="1325563"/>
          </a:xfrm>
        </p:spPr>
        <p:txBody>
          <a:bodyPr/>
          <a:lstStyle/>
          <a:p>
            <a:pPr algn="ctr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LIMITATIONS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E28C71-E0DB-0691-6A0D-FE0148BE44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9367" y="1742846"/>
            <a:ext cx="9974205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Ensuring real-time synchronization of bids across multiple users was technically challenging.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network latency and server downtime posed risks to fair bidding.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secure payment gateways required additional integration and compliance.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Preventing fraudulent activities such as fake bids or duplicate accounts was a key concern.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Managing large-scale concurrent auctions without performance drops was complex.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Designing a user-friendly interface that works across devices took additional effort.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testing with real users may affect the reliability of results in real-world scenarios.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internet connectivity makes the system inaccessible during network issues.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7C1EB2-C877-F878-53B6-4743C41109B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8873" y="95795"/>
            <a:ext cx="1134745" cy="13423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B73E7E-3821-6B17-28B9-7A6F11285ED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433572" y="95795"/>
            <a:ext cx="1519555" cy="134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53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E9F30-26E9-A746-1D63-021B4C289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795" y="18255"/>
            <a:ext cx="10515600" cy="1325563"/>
          </a:xfrm>
        </p:spPr>
        <p:txBody>
          <a:bodyPr/>
          <a:lstStyle/>
          <a:p>
            <a:pPr algn="ctr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D4954-7167-07C7-6CD8-C85F4A888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7" y="1848465"/>
            <a:ext cx="10515600" cy="332560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Addition of mobile app support for Android and iOS to reach a wider audience.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Incorporating blockchain technology for secure, transparent, and tamper-proof transactions.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Enabling multi-currency and cryptocurrency payments for global participation.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Introducing AI-driven price prediction models to guide bidders with estimated values.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voice-assisted bidding for enhanced accessibility.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Expanding to a cloud-based scalable infrastructure to handle millions of concurrent users.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Adding personalized dashboards using machine learning for bidder and seller insights.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6177C0-ED48-02F0-3EAB-3CB04CCFB96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8873" y="95795"/>
            <a:ext cx="1134745" cy="13423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48ACDF-A86D-A45B-67E9-C3A8DFC38C5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433572" y="95795"/>
            <a:ext cx="1519555" cy="134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842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5660F-0667-1BE4-4458-718E0DCB4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749" y="112622"/>
            <a:ext cx="10515600" cy="1325563"/>
          </a:xfrm>
        </p:spPr>
        <p:txBody>
          <a:bodyPr/>
          <a:lstStyle/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5F446-CBA8-9EDB-1F0C-14F3C59B5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50" y="1671485"/>
            <a:ext cx="9898626" cy="4210511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digital platform for conducting secure and transparent auctions.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 eliminates geographical and time limitations of traditional auctions.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Real-time bidding ensures fair competition among participants.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improves trust and prevents fraudulent activities.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system offers a structured process for product listing, bidding, and result generation.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 enhances user convenience by enabling easy access through an online interface.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how technology can modernize the auction process.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 lays a foundation for future improvements such as AI-based predictions and blockchain security.</a:t>
            </a:r>
          </a:p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8DB9F7-BE3C-EEE3-0AA4-7D5325C270A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8873" y="95795"/>
            <a:ext cx="1134745" cy="13423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AD7B38-6483-7A13-12DB-463BEC39F8C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433572" y="95795"/>
            <a:ext cx="1519555" cy="134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539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53EA9-EFB9-A318-8CA2-6C0DA1C03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795"/>
            <a:ext cx="10515600" cy="1325563"/>
          </a:xfrm>
        </p:spPr>
        <p:txBody>
          <a:bodyPr/>
          <a:lstStyle/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AC234-18DB-FC39-7776-BCDDDD9F3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“A State-of-the-Art Approach for Securing Online Auction System,” </a:t>
            </a:r>
            <a:r>
              <a:rPr lang="en-IN" i="1">
                <a:latin typeface="Times New Roman" panose="02020603050405020304" pitchFamily="18" charset="0"/>
                <a:cs typeface="Times New Roman" panose="02020603050405020304" pitchFamily="18" charset="0"/>
              </a:rPr>
              <a:t>IEEE Conference Publication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A. Smith et al., “Integration of blockchain and auction models...,” </a:t>
            </a:r>
            <a:r>
              <a:rPr lang="en-IN" i="1">
                <a:latin typeface="Times New Roman" panose="02020603050405020304" pitchFamily="18" charset="0"/>
                <a:cs typeface="Times New Roman" panose="02020603050405020304" pitchFamily="18" charset="0"/>
              </a:rPr>
              <a:t>IEEE Commun. Surveys &amp; Tutorials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vol. 24, no. 4, pp. 2013–2040, 2022.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M. Wang et al., “SAFE: A general secure and fair auction framework...,” </a:t>
            </a:r>
            <a:r>
              <a:rPr lang="en-IN" i="1">
                <a:latin typeface="Times New Roman" panose="02020603050405020304" pitchFamily="18" charset="0"/>
                <a:cs typeface="Times New Roman" panose="02020603050405020304" pitchFamily="18" charset="0"/>
              </a:rPr>
              <a:t>IEEE Trans. Dependable Secure </a:t>
            </a:r>
            <a:r>
              <a:rPr lang="en-IN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IN" i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vol. 20, no. 3, pp. 1535–1550, May–Jun. 2022.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F. A. Shaikh et al., “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AuctiSafe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: Building a robust and reliable auction system...,” in </a:t>
            </a:r>
            <a:r>
              <a:rPr lang="en-IN" i="1">
                <a:latin typeface="Times New Roman" panose="02020603050405020304" pitchFamily="18" charset="0"/>
                <a:cs typeface="Times New Roman" panose="02020603050405020304" pitchFamily="18" charset="0"/>
              </a:rPr>
              <a:t>Proc. IEEE KHI-HTC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2024, pp. 1–6.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IEEE P3809, </a:t>
            </a:r>
            <a:r>
              <a:rPr lang="en-IN" i="1">
                <a:latin typeface="Times New Roman" panose="02020603050405020304" pitchFamily="18" charset="0"/>
                <a:cs typeface="Times New Roman" panose="02020603050405020304" pitchFamily="18" charset="0"/>
              </a:rPr>
              <a:t>IEEE Standard for Blockchain-based Electronic Bidding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Dec. 2022.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J. Doe et al., “A Novel Auction Blockchain System with Price Recommendation...,” </a:t>
            </a:r>
            <a:r>
              <a:rPr lang="en-IN" i="1">
                <a:latin typeface="Times New Roman" panose="02020603050405020304" pitchFamily="18" charset="0"/>
                <a:cs typeface="Times New Roman" panose="02020603050405020304" pitchFamily="18" charset="0"/>
              </a:rPr>
              <a:t>Mathematics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2021.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S. Khan &amp; Z. Zeeshan, “Advanced and Secure Online Web-Based Auction System,” </a:t>
            </a:r>
            <a:r>
              <a:rPr lang="en-IN" i="1">
                <a:latin typeface="Times New Roman" panose="02020603050405020304" pitchFamily="18" charset="0"/>
                <a:cs typeface="Times New Roman" panose="02020603050405020304" pitchFamily="18" charset="0"/>
              </a:rPr>
              <a:t>Int. J. Computer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vol. 43, no. 1, 2022.</a:t>
            </a:r>
          </a:p>
          <a:p>
            <a:r>
              <a:rPr lang="en-IN" i="1">
                <a:latin typeface="Times New Roman" panose="02020603050405020304" pitchFamily="18" charset="0"/>
                <a:cs typeface="Times New Roman" panose="02020603050405020304" pitchFamily="18" charset="0"/>
              </a:rPr>
              <a:t>Auction Theory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Wikipedia (principles used from IEEE-aligned studies), 2025.</a:t>
            </a:r>
          </a:p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2855D7-182F-EF20-97C1-BD479DF0C1C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8873" y="95795"/>
            <a:ext cx="1134745" cy="13423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F253D4-DA0A-53A3-B59D-78DF102EAA9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433572" y="95795"/>
            <a:ext cx="1519555" cy="134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167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4100E-F2AB-C7E1-7FC3-8767424E1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07173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700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193117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1255</Words>
  <Application>Microsoft Office PowerPoint</Application>
  <PresentationFormat>Widescreen</PresentationFormat>
  <Paragraphs>108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Wingdings</vt:lpstr>
      <vt:lpstr>Office Theme</vt:lpstr>
      <vt:lpstr>DESIGN AND IMPLEMENTATION OF ONLINE AUCTION SYSTEM WITH REAL TIME BIDDING</vt:lpstr>
      <vt:lpstr>INTRODUCTION</vt:lpstr>
      <vt:lpstr>ABSTRACT</vt:lpstr>
      <vt:lpstr>PowerPoint Presentation</vt:lpstr>
      <vt:lpstr>SYSTEM ARCHITECTURE</vt:lpstr>
      <vt:lpstr>MODULE1 User and Product Management</vt:lpstr>
      <vt:lpstr>MODULE2 Auction &amp; Bidding Management</vt:lpstr>
      <vt:lpstr>MODULE3 Payment and transaction Management</vt:lpstr>
      <vt:lpstr>ER Diagram</vt:lpstr>
      <vt:lpstr>RESULTS</vt:lpstr>
      <vt:lpstr>CHALLENGES AND LIMITATIONS</vt:lpstr>
      <vt:lpstr>FUTURE ENHANCEMENTS</vt:lpstr>
      <vt:lpstr>CONCLUSION</vt:lpstr>
      <vt:lpstr>REFERENCE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Implementation Of Online Auction System with Real Time Bidding</dc:title>
  <dc:creator>Anu Keerthana</dc:creator>
  <cp:lastModifiedBy>VANI BELLAMKONDA</cp:lastModifiedBy>
  <cp:revision>4</cp:revision>
  <dcterms:created xsi:type="dcterms:W3CDTF">2025-08-28T09:14:50Z</dcterms:created>
  <dcterms:modified xsi:type="dcterms:W3CDTF">2025-11-06T03:04:08Z</dcterms:modified>
</cp:coreProperties>
</file>